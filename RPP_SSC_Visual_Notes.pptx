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2130" y="8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Ratio, Proportion &amp; Percentage — SSC CGL Ready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notes + step-by-step examples + PYQ-style practice (easy → hard)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Ratio — Concept &amp;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• Ratio compares two quantities of the same kind.</a:t>
            </a:r>
          </a:p>
          <a:p>
            <a:pPr>
              <a:defRPr sz="2000"/>
            </a:pPr>
            <a:r>
              <a:rPr dirty="0"/>
              <a:t>• a:b = a/b (order matters).</a:t>
            </a:r>
          </a:p>
          <a:p>
            <a:pPr>
              <a:defRPr sz="2000"/>
            </a:pPr>
            <a:r>
              <a:rPr dirty="0"/>
              <a:t>• To make equivalent ratios, multiply/divide each term by the same number.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3163824"/>
            <a:ext cx="640078" cy="731520"/>
          </a:xfrm>
          <a:prstGeom prst="rect">
            <a:avLst/>
          </a:prstGeom>
          <a:solidFill>
            <a:srgbClr val="63BB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23760" y="3163824"/>
            <a:ext cx="640078" cy="731520"/>
          </a:xfrm>
          <a:prstGeom prst="rect">
            <a:avLst/>
          </a:prstGeom>
          <a:solidFill>
            <a:srgbClr val="63BB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4297680"/>
            <a:ext cx="640078" cy="731520"/>
          </a:xfrm>
          <a:prstGeom prst="rect">
            <a:avLst/>
          </a:prstGeom>
          <a:solidFill>
            <a:srgbClr val="0F6C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23760" y="4297680"/>
            <a:ext cx="640078" cy="731520"/>
          </a:xfrm>
          <a:prstGeom prst="rect">
            <a:avLst/>
          </a:prstGeom>
          <a:solidFill>
            <a:srgbClr val="0F6C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0" y="4297680"/>
            <a:ext cx="640078" cy="731520"/>
          </a:xfrm>
          <a:prstGeom prst="rect">
            <a:avLst/>
          </a:prstGeom>
          <a:solidFill>
            <a:srgbClr val="0F6C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Bar model: 2:3 (top: A has 2 units, bottom: B has 3 units)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Proportion — Equality of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a:b = c:d ⇒ a/b = c/d (cross-multiplication: ad = bc)</a:t>
            </a:r>
          </a:p>
          <a:p>
            <a:pPr>
              <a:defRPr sz="2000"/>
            </a:pPr>
            <a:r>
              <a:t>• Direct proportion: x ∝ y (x/y = constant).</a:t>
            </a:r>
          </a:p>
          <a:p>
            <a:pPr>
              <a:defRPr sz="2000"/>
            </a:pPr>
            <a:r>
              <a:t>• Inverse proportion: x ∝ 1/y (x*y = constant).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400800" y="2560320"/>
            <a:ext cx="548640" cy="548640"/>
          </a:xfrm>
          <a:prstGeom prst="triangle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2194560"/>
            <a:ext cx="2743200" cy="274320"/>
          </a:xfrm>
          <a:prstGeom prst="rect">
            <a:avLst/>
          </a:prstGeom>
          <a:solidFill>
            <a:srgbClr val="B4B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0" y="164592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a:b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c:d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Percentage — Part per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760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• p% of N = (p/100) × N.</a:t>
            </a:r>
          </a:p>
          <a:p>
            <a:pPr>
              <a:defRPr sz="2000"/>
            </a:pPr>
            <a:r>
              <a:rPr dirty="0"/>
              <a:t>• Successive % changes: net = a + b + (ab/100).</a:t>
            </a:r>
          </a:p>
          <a:p>
            <a:pPr>
              <a:defRPr sz="2000"/>
            </a:pPr>
            <a:r>
              <a:rPr dirty="0"/>
              <a:t>• Change base carefully: 'A is x% more than B' ≠ 'B is x% less than A'.</a:t>
            </a:r>
          </a:p>
        </p:txBody>
      </p:sp>
      <p:sp>
        <p:nvSpPr>
          <p:cNvPr id="5" name="Pie 4"/>
          <p:cNvSpPr/>
          <p:nvPr/>
        </p:nvSpPr>
        <p:spPr>
          <a:xfrm>
            <a:off x="7863840" y="1920240"/>
            <a:ext cx="2743200" cy="2743200"/>
          </a:xfrm>
          <a:prstGeom prst="pie">
            <a:avLst/>
          </a:prstGeom>
          <a:solidFill>
            <a:srgbClr val="0F6C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e 5"/>
          <p:cNvSpPr/>
          <p:nvPr/>
        </p:nvSpPr>
        <p:spPr>
          <a:xfrm rot="5400000">
            <a:off x="7863840" y="1920240"/>
            <a:ext cx="2743200" cy="2743200"/>
          </a:xfrm>
          <a:prstGeom prst="pie">
            <a:avLst>
              <a:gd name="adj1" fmla="val 27000000"/>
              <a:gd name="adj2" fmla="val 16200000"/>
            </a:avLst>
          </a:prstGeom>
          <a:solidFill>
            <a:srgbClr val="F0F0F0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Shaded = 25% of the whole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Worked Examples —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Example 1: A:B = 5:3 and A−B = 24. Find A and B.</a:t>
            </a:r>
          </a:p>
          <a:p>
            <a:pPr>
              <a:defRPr sz="2000"/>
            </a:pPr>
            <a:r>
              <a:t>• Let A = 5k, B = 3k ⇒ 5k−3k=24 ⇒ k=12 ⇒ A=60, B=36.</a:t>
            </a:r>
          </a:p>
          <a:p>
            <a:pPr>
              <a:defRPr sz="2000"/>
            </a:pPr>
            <a:r>
              <a:t>• Example 2 (Mixture): Tea and coffee in ratio 2:3. Add 10g tea to make ratio 1:1. Original tea?</a:t>
            </a:r>
          </a:p>
          <a:p>
            <a:pPr>
              <a:defRPr sz="2000"/>
            </a:pPr>
            <a:r>
              <a:t>• Let 2x+10 = 3x ⇒ x=10 ⇒ original tea = 2x = 20g, coffee = 30g.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Worked Examples — Proportion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• Example 1: If 6 men finish a wall in 9 days, how many days for 9 men? (inverse)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men×days</a:t>
            </a:r>
            <a:r>
              <a:rPr dirty="0"/>
              <a:t> = const ⇒ 6×9 = 9×d ⇒ d=6 days.</a:t>
            </a:r>
          </a:p>
          <a:p>
            <a:pPr>
              <a:defRPr sz="2000"/>
            </a:pPr>
            <a:r>
              <a:rPr dirty="0"/>
              <a:t>• Example 2: a:b = 4:7 and b:c = 14:9 ⇒ a:c = 4:7 × 7:9 = 4:9.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Worked Examples —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• Example 1: Price increases 20% then decreases 10%; net change?</a:t>
            </a:r>
          </a:p>
          <a:p>
            <a:pPr>
              <a:defRPr sz="2000"/>
            </a:pPr>
            <a:r>
              <a:t>• Net = 20 + (−10) + (20×−10)/100 = 8% increase.</a:t>
            </a:r>
          </a:p>
          <a:p>
            <a:pPr>
              <a:defRPr sz="2000"/>
            </a:pPr>
            <a:r>
              <a:t>• Example 2: A is 25% more than B. B is what % less than A?</a:t>
            </a:r>
          </a:p>
          <a:p>
            <a:pPr>
              <a:defRPr sz="2000"/>
            </a:pPr>
            <a:r>
              <a:t>• If B=100 ⇒ A=125 ⇒ B is (25/125)=20% less than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Practice – Ratio (SSC style)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1. (E) Find B if A:B = 2:3 and A=16.</a:t>
            </a:r>
          </a:p>
          <a:p>
            <a:pPr>
              <a:defRPr sz="2200"/>
            </a:pPr>
            <a:r>
              <a:t>2. (E) Simplify 36:60.</a:t>
            </a:r>
          </a:p>
          <a:p>
            <a:pPr>
              <a:defRPr sz="2200"/>
            </a:pPr>
            <a:r>
              <a:t>3. (M) The ratio of boys and girls is 7:5 in a class of 48. Find boys.</a:t>
            </a:r>
          </a:p>
          <a:p>
            <a:pPr>
              <a:defRPr sz="2200"/>
            </a:pPr>
            <a:r>
              <a:t>4. (M) A:B:C = 2:3:5 and total = 200. Find A and C.</a:t>
            </a:r>
          </a:p>
          <a:p>
            <a:pPr>
              <a:defRPr sz="2200"/>
            </a:pPr>
            <a:r>
              <a:t>5. (H) A:B = 4:3 and B:C = 6:7. Find A:C.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Practice – Proportion (SSC style)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1. (E) Solve for x: 3:5 = x:25.</a:t>
            </a:r>
          </a:p>
          <a:p>
            <a:pPr>
              <a:defRPr sz="2200"/>
            </a:pPr>
            <a:r>
              <a:t>2. (E) If x ∝ y and x=12 when y=8, find x when y=10.</a:t>
            </a:r>
          </a:p>
          <a:p>
            <a:pPr>
              <a:defRPr sz="2200"/>
            </a:pPr>
            <a:r>
              <a:t>3. (M) a:b=5:7 and b:c=21:10. Find a:c.</a:t>
            </a:r>
          </a:p>
          <a:p>
            <a:pPr>
              <a:defRPr sz="2200"/>
            </a:pPr>
            <a:r>
              <a:t>4. (M) If 12 workers take 18 days, how many days for 18 workers (same work)?</a:t>
            </a:r>
          </a:p>
          <a:p>
            <a:pPr>
              <a:defRPr sz="2200"/>
            </a:pPr>
            <a:r>
              <a:t>5. (H) What least number must be added to 72 and 90 so that 12 is third proportional?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Practice – Percentage (SSC style)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1. (E) 25% of 480 = ?</a:t>
            </a:r>
          </a:p>
          <a:p>
            <a:pPr>
              <a:defRPr sz="2200"/>
            </a:pPr>
            <a:r>
              <a:t>2. (E) If a number is increased by 10%, new value of 200 is?</a:t>
            </a:r>
          </a:p>
          <a:p>
            <a:pPr>
              <a:defRPr sz="2200"/>
            </a:pPr>
            <a:r>
              <a:t>3. (M) Successive changes +20% and −25% ⇒ net?</a:t>
            </a:r>
          </a:p>
          <a:p>
            <a:pPr>
              <a:defRPr sz="2200"/>
            </a:pPr>
            <a:r>
              <a:t>4. (M) If 40% of x = 30% of 200, find x.</a:t>
            </a:r>
          </a:p>
          <a:p>
            <a:pPr>
              <a:defRPr sz="2200"/>
            </a:pPr>
            <a:r>
              <a:t>5. (H) Candidates A &amp; B: A gets 25% fewer votes than B. By what % is B more than 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Answers — Practice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Ratio: </a:t>
            </a:r>
          </a:p>
          <a:p>
            <a:pPr>
              <a:defRPr sz="2000"/>
            </a:pPr>
            <a:r>
              <a:t>1) 24</a:t>
            </a:r>
          </a:p>
          <a:p>
            <a:pPr>
              <a:defRPr sz="2000"/>
            </a:pPr>
            <a:r>
              <a:t>2) 3:5</a:t>
            </a:r>
          </a:p>
          <a:p>
            <a:pPr>
              <a:defRPr sz="2000"/>
            </a:pPr>
            <a:r>
              <a:t>3) 28</a:t>
            </a:r>
          </a:p>
          <a:p>
            <a:pPr>
              <a:defRPr sz="2000"/>
            </a:pPr>
            <a:r>
              <a:t>4) 40 and 100</a:t>
            </a:r>
          </a:p>
          <a:p>
            <a:pPr>
              <a:defRPr sz="2000"/>
            </a:pPr>
            <a:r>
              <a:t>5) 8:7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Proportion: </a:t>
            </a:r>
          </a:p>
          <a:p>
            <a:pPr>
              <a:defRPr sz="2000"/>
            </a:pPr>
            <a:r>
              <a:t>1) 15</a:t>
            </a:r>
          </a:p>
          <a:p>
            <a:pPr>
              <a:defRPr sz="2000"/>
            </a:pPr>
            <a:r>
              <a:t>2) 15</a:t>
            </a:r>
          </a:p>
          <a:p>
            <a:pPr>
              <a:defRPr sz="2000"/>
            </a:pPr>
            <a:r>
              <a:t>3) 5:10 ⇒ 1:2</a:t>
            </a:r>
          </a:p>
          <a:p>
            <a:pPr>
              <a:defRPr sz="2000"/>
            </a:pPr>
            <a:r>
              <a:t>4) 12</a:t>
            </a:r>
          </a:p>
          <a:p>
            <a:pPr>
              <a:defRPr sz="2000"/>
            </a:pPr>
            <a:r>
              <a:t>5)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0"/>
            <a:ext cx="3840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Percentage: </a:t>
            </a:r>
          </a:p>
          <a:p>
            <a:pPr>
              <a:defRPr sz="2000"/>
            </a:pPr>
            <a:r>
              <a:t>1) 120</a:t>
            </a:r>
          </a:p>
          <a:p>
            <a:pPr>
              <a:defRPr sz="2000"/>
            </a:pPr>
            <a:r>
              <a:t>2) 220</a:t>
            </a:r>
          </a:p>
          <a:p>
            <a:pPr>
              <a:defRPr sz="2000"/>
            </a:pPr>
            <a:r>
              <a:t>3) −10%</a:t>
            </a:r>
          </a:p>
          <a:p>
            <a:pPr>
              <a:defRPr sz="2000"/>
            </a:pPr>
            <a:r>
              <a:t>4) 150</a:t>
            </a:r>
          </a:p>
          <a:p>
            <a:pPr>
              <a:defRPr sz="2000"/>
            </a:pPr>
            <a:r>
              <a:t>5) 33⅓%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6CBD"/>
                </a:solidFill>
              </a:defRPr>
            </a:pPr>
            <a:r>
              <a:t>References (for SSC PYQ Style)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• Patterns &amp; difficulty calibrated using public PYQ repositories (ExamSIDE/Testbook) and SSC Study PDFs.</a:t>
            </a:r>
          </a:p>
          <a:p>
            <a:pPr>
              <a:defRPr sz="1800"/>
            </a:pPr>
            <a:r>
              <a:t>• Always verify latest pattern against current SSC notification &amp; mock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881</Words>
  <Application>Microsoft Office PowerPoint</Application>
  <PresentationFormat>Custom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Ratio, Proportion &amp; Percentage — SSC CGL Ready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Thakur, Arjun</cp:lastModifiedBy>
  <cp:revision>2</cp:revision>
  <dcterms:created xsi:type="dcterms:W3CDTF">2013-01-27T09:14:16Z</dcterms:created>
  <dcterms:modified xsi:type="dcterms:W3CDTF">2026-03-17T14:29:20Z</dcterms:modified>
  <cp:category/>
</cp:coreProperties>
</file>